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7" r:id="rId3"/>
    <p:sldId id="273" r:id="rId4"/>
    <p:sldId id="274" r:id="rId5"/>
    <p:sldId id="275" r:id="rId6"/>
    <p:sldId id="27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68812-488E-4F3C-A527-03008583F575}" type="datetimeFigureOut">
              <a:rPr lang="en-CA" smtClean="0"/>
              <a:t>2020-09-07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57F57-1C7C-4002-BD36-1A04BC5460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1766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5698-EC18-418E-B3A5-007D340B9DFF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8BCA-2F16-4968-9D9B-03B9D6F93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70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5698-EC18-418E-B3A5-007D340B9DFF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8BCA-2F16-4968-9D9B-03B9D6F93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872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5698-EC18-418E-B3A5-007D340B9DFF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8BCA-2F16-4968-9D9B-03B9D6F93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19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5698-EC18-418E-B3A5-007D340B9DFF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8BCA-2F16-4968-9D9B-03B9D6F93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7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5698-EC18-418E-B3A5-007D340B9DFF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8BCA-2F16-4968-9D9B-03B9D6F93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69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5698-EC18-418E-B3A5-007D340B9DFF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8BCA-2F16-4968-9D9B-03B9D6F93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51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5698-EC18-418E-B3A5-007D340B9DFF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8BCA-2F16-4968-9D9B-03B9D6F93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4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5698-EC18-418E-B3A5-007D340B9DFF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8BCA-2F16-4968-9D9B-03B9D6F93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40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5698-EC18-418E-B3A5-007D340B9DFF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8BCA-2F16-4968-9D9B-03B9D6F93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19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5698-EC18-418E-B3A5-007D340B9DFF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8BCA-2F16-4968-9D9B-03B9D6F93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5698-EC18-418E-B3A5-007D340B9DFF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8BCA-2F16-4968-9D9B-03B9D6F93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1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D5698-EC18-418E-B3A5-007D340B9DFF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08BCA-2F16-4968-9D9B-03B9D6F93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71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89032"/>
          </a:xfrm>
        </p:spPr>
        <p:txBody>
          <a:bodyPr>
            <a:normAutofit/>
          </a:bodyPr>
          <a:lstStyle/>
          <a:p>
            <a:r>
              <a:rPr lang="en-US" dirty="0"/>
              <a:t>K Nearest Neighbor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CMPUT 328</a:t>
            </a:r>
          </a:p>
          <a:p>
            <a:r>
              <a:rPr lang="en-US" dirty="0" err="1"/>
              <a:t>Nilanjan</a:t>
            </a:r>
            <a:r>
              <a:rPr lang="en-US" dirty="0"/>
              <a:t> Ray</a:t>
            </a:r>
          </a:p>
          <a:p>
            <a:r>
              <a:rPr lang="en-US" dirty="0"/>
              <a:t>Computing Science, University of Alberta, Canada</a:t>
            </a:r>
          </a:p>
        </p:txBody>
      </p:sp>
    </p:spTree>
    <p:extLst>
      <p:ext uri="{BB962C8B-B14F-4D97-AF65-F5344CB8AC3E}">
        <p14:creationId xmlns:p14="http://schemas.microsoft.com/office/powerpoint/2010/main" val="917406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225" y="86184"/>
            <a:ext cx="10950146" cy="1325563"/>
          </a:xfrm>
        </p:spPr>
        <p:txBody>
          <a:bodyPr/>
          <a:lstStyle/>
          <a:p>
            <a:r>
              <a:rPr lang="en-US" dirty="0"/>
              <a:t>Supervised machine learning: the tabular view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2949304"/>
              </p:ext>
            </p:extLst>
          </p:nvPr>
        </p:nvGraphicFramePr>
        <p:xfrm>
          <a:off x="722871" y="2756501"/>
          <a:ext cx="396445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1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76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i="1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x</a:t>
                      </a:r>
                      <a:r>
                        <a:rPr lang="en-US" i="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x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ight Brace 4"/>
          <p:cNvSpPr/>
          <p:nvPr/>
        </p:nvSpPr>
        <p:spPr>
          <a:xfrm>
            <a:off x="4773826" y="2751438"/>
            <a:ext cx="378941" cy="219950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9263" y="3528023"/>
            <a:ext cx="1804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Training data: </a:t>
            </a:r>
            <a:r>
              <a:rPr lang="en-US" dirty="0">
                <a:solidFill>
                  <a:srgbClr val="FF0000"/>
                </a:solidFill>
              </a:rPr>
              <a:t>complete </a:t>
            </a:r>
            <a:r>
              <a:rPr lang="en-US" dirty="0"/>
              <a:t>table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33669" y="5076890"/>
            <a:ext cx="1808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data:  </a:t>
            </a:r>
            <a:r>
              <a:rPr lang="en-US" dirty="0">
                <a:solidFill>
                  <a:srgbClr val="FF0000"/>
                </a:solidFill>
              </a:rPr>
              <a:t>incomplete </a:t>
            </a:r>
            <a:r>
              <a:rPr lang="en-US" dirty="0"/>
              <a:t>table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ight Brace 7"/>
          <p:cNvSpPr/>
          <p:nvPr/>
        </p:nvSpPr>
        <p:spPr>
          <a:xfrm>
            <a:off x="4768937" y="4950941"/>
            <a:ext cx="378941" cy="7722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698026" y="2737133"/>
            <a:ext cx="238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ML learns to map </a:t>
            </a:r>
            <a:r>
              <a:rPr lang="en-US" b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 to 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8026" y="3316531"/>
            <a:ext cx="25887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other words, ML learns</a:t>
            </a:r>
          </a:p>
          <a:p>
            <a:r>
              <a:rPr lang="en-US" dirty="0"/>
              <a:t>a function, </a:t>
            </a:r>
            <a:r>
              <a:rPr lang="en-US" i="1" dirty="0"/>
              <a:t>f</a:t>
            </a:r>
            <a:r>
              <a:rPr lang="en-US" dirty="0"/>
              <a:t> so that </a:t>
            </a:r>
          </a:p>
          <a:p>
            <a:r>
              <a:rPr lang="en-US" i="1" dirty="0">
                <a:solidFill>
                  <a:srgbClr val="FF0000"/>
                </a:solidFill>
              </a:rPr>
              <a:t>y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i="1" dirty="0">
                <a:solidFill>
                  <a:srgbClr val="FF0000"/>
                </a:solidFill>
              </a:rPr>
              <a:t>f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b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8026" y="4892224"/>
            <a:ext cx="4309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function </a:t>
            </a:r>
            <a:r>
              <a:rPr lang="en-US" i="1" dirty="0"/>
              <a:t>f</a:t>
            </a:r>
            <a:r>
              <a:rPr lang="en-US" dirty="0"/>
              <a:t> is called </a:t>
            </a:r>
            <a:r>
              <a:rPr lang="en-US" dirty="0">
                <a:solidFill>
                  <a:srgbClr val="FF0000"/>
                </a:solidFill>
              </a:rPr>
              <a:t>prediction function</a:t>
            </a:r>
          </a:p>
        </p:txBody>
      </p:sp>
      <p:sp>
        <p:nvSpPr>
          <p:cNvPr id="12" name="Left Brace 11"/>
          <p:cNvSpPr/>
          <p:nvPr/>
        </p:nvSpPr>
        <p:spPr>
          <a:xfrm rot="5400000">
            <a:off x="2109883" y="1022490"/>
            <a:ext cx="234843" cy="300887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43380" y="1639859"/>
            <a:ext cx="2843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Independent variable (aka </a:t>
            </a:r>
            <a:r>
              <a:rPr lang="en-US" dirty="0">
                <a:solidFill>
                  <a:srgbClr val="FF0000"/>
                </a:solidFill>
              </a:rPr>
              <a:t>features or predictors</a:t>
            </a:r>
            <a:r>
              <a:rPr lang="en-US" dirty="0"/>
              <a:t>)</a:t>
            </a:r>
          </a:p>
        </p:txBody>
      </p:sp>
      <p:sp>
        <p:nvSpPr>
          <p:cNvPr id="14" name="Left Brace 13"/>
          <p:cNvSpPr/>
          <p:nvPr/>
        </p:nvSpPr>
        <p:spPr>
          <a:xfrm rot="5400000">
            <a:off x="4079063" y="2044322"/>
            <a:ext cx="252705" cy="94735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686435" y="1247998"/>
            <a:ext cx="15899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/ Prediction / dependent variable</a:t>
            </a:r>
          </a:p>
        </p:txBody>
      </p:sp>
      <p:sp>
        <p:nvSpPr>
          <p:cNvPr id="3" name="Oval 2"/>
          <p:cNvSpPr/>
          <p:nvPr/>
        </p:nvSpPr>
        <p:spPr>
          <a:xfrm>
            <a:off x="6864972" y="1744459"/>
            <a:ext cx="833054" cy="8339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endParaRPr lang="en-CA" dirty="0"/>
          </a:p>
        </p:txBody>
      </p:sp>
      <p:sp>
        <p:nvSpPr>
          <p:cNvPr id="16" name="Oval 15"/>
          <p:cNvSpPr/>
          <p:nvPr/>
        </p:nvSpPr>
        <p:spPr>
          <a:xfrm>
            <a:off x="9883906" y="1649366"/>
            <a:ext cx="840504" cy="83621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  <a:endParaRPr lang="en-CA" dirty="0"/>
          </a:p>
        </p:txBody>
      </p:sp>
      <p:sp>
        <p:nvSpPr>
          <p:cNvPr id="17" name="Right Arrow 16"/>
          <p:cNvSpPr/>
          <p:nvPr/>
        </p:nvSpPr>
        <p:spPr>
          <a:xfrm>
            <a:off x="7868328" y="1901139"/>
            <a:ext cx="1845276" cy="412498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Map (Sup. ML)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9769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63142-A388-4098-8A13-A82ACE198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 nearest neighbor (K-</a:t>
            </a:r>
            <a:r>
              <a:rPr lang="en-CA" dirty="0" err="1"/>
              <a:t>nn</a:t>
            </a:r>
            <a:r>
              <a:rPr lang="en-CA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C3C8AF-17C7-400C-974D-F5C5B7098F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n-CA" dirty="0"/>
                  <a:t>K-</a:t>
                </a:r>
                <a:r>
                  <a:rPr lang="en-CA" dirty="0" err="1"/>
                  <a:t>nn</a:t>
                </a:r>
                <a:r>
                  <a:rPr lang="en-CA" dirty="0"/>
                  <a:t> uses a very simple form of learning: it remembers all of </a:t>
                </a:r>
                <a:r>
                  <a:rPr lang="en-CA" i="1" dirty="0"/>
                  <a:t>m</a:t>
                </a:r>
                <a:r>
                  <a:rPr lang="en-CA" dirty="0"/>
                  <a:t> training data points, i.e.,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CA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CA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CA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CA" sz="2400" i="1">
                                    <a:latin typeface="Cambria Math" panose="02040503050406030204" pitchFamily="18" charset="0"/>
                                  </a:rPr>
                                  <m:t>𝑡𝑟</m:t>
                                </m:r>
                              </m:sup>
                            </m:sSubSup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CA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CA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CA" sz="2400" i="1">
                                    <a:latin typeface="Cambria Math" panose="02040503050406030204" pitchFamily="18" charset="0"/>
                                  </a:rPr>
                                  <m:t>𝑡𝑟</m:t>
                                </m:r>
                              </m:sup>
                            </m:sSubSup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en-CA" dirty="0"/>
                  <a:t>!</a:t>
                </a:r>
              </a:p>
              <a:p>
                <a:pPr>
                  <a:lnSpc>
                    <a:spcPct val="170000"/>
                  </a:lnSpc>
                </a:pPr>
                <a:r>
                  <a:rPr lang="en-CA" dirty="0"/>
                  <a:t>Note: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CA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𝑡𝑟</m:t>
                        </m:r>
                      </m:sup>
                    </m:sSubSup>
                  </m:oMath>
                </a14:m>
                <a:r>
                  <a:rPr lang="en-CA" dirty="0"/>
                  <a:t> is a vector of dimension 1-by-</a:t>
                </a:r>
                <a:r>
                  <a:rPr lang="en-CA" i="1" dirty="0"/>
                  <a:t>d</a:t>
                </a:r>
                <a:r>
                  <a:rPr lang="en-CA" dirty="0"/>
                  <a:t>, so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𝑡𝑟</m:t>
                        </m:r>
                      </m:sup>
                    </m:sSubSup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CA" sz="2400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  <m:sup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𝑡𝑟</m:t>
                            </m:r>
                          </m:sup>
                        </m:sSubSup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,2</m:t>
                            </m:r>
                          </m:sub>
                          <m:sup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𝑡𝑟</m:t>
                            </m:r>
                          </m:sup>
                        </m:sSubSup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𝑡𝑟</m:t>
                            </m:r>
                          </m:sup>
                        </m:sSubSup>
                      </m:e>
                    </m:d>
                  </m:oMath>
                </a14:m>
                <a:endParaRPr lang="en-CA" dirty="0"/>
              </a:p>
              <a:p>
                <a:pPr>
                  <a:lnSpc>
                    <a:spcPct val="170000"/>
                  </a:lnSpc>
                </a:pPr>
                <a:r>
                  <a:rPr lang="en-CA" dirty="0"/>
                  <a:t>To predict the output for a test data point x, k-</a:t>
                </a:r>
                <a:r>
                  <a:rPr lang="en-CA" dirty="0" err="1"/>
                  <a:t>nn</a:t>
                </a:r>
                <a:r>
                  <a:rPr lang="en-CA" dirty="0"/>
                  <a:t> computes </a:t>
                </a:r>
                <a:r>
                  <a:rPr lang="en-CA" i="1" dirty="0"/>
                  <a:t>k</a:t>
                </a:r>
                <a:r>
                  <a:rPr lang="en-CA" dirty="0"/>
                  <a:t> nearest training examples to </a:t>
                </a:r>
                <a:r>
                  <a:rPr lang="en-CA" i="1" dirty="0"/>
                  <a:t>x</a:t>
                </a:r>
                <a:r>
                  <a:rPr lang="en-CA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CA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CA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CA" sz="2400" i="1">
                                    <a:latin typeface="Cambria Math" panose="02040503050406030204" pitchFamily="18" charset="0"/>
                                  </a:rPr>
                                  <m:t>𝑡𝑟</m:t>
                                </m:r>
                              </m:sup>
                            </m:sSubSup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CA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CA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CA" sz="2400" i="1">
                                    <a:latin typeface="Cambria Math" panose="02040503050406030204" pitchFamily="18" charset="0"/>
                                  </a:rPr>
                                  <m:t>𝑡𝑟</m:t>
                                </m:r>
                              </m:sup>
                            </m:sSubSup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CA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CA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CA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CA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CA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CA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CA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CA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is the set of indices of </a:t>
                </a:r>
                <a:r>
                  <a:rPr lang="en-CA" i="1" dirty="0"/>
                  <a:t>k</a:t>
                </a:r>
                <a:r>
                  <a:rPr lang="en-CA" dirty="0"/>
                  <a:t> training data points that are closest to </a:t>
                </a:r>
                <a:r>
                  <a:rPr lang="en-CA" i="1" dirty="0"/>
                  <a:t>x</a:t>
                </a:r>
                <a:r>
                  <a:rPr lang="en-CA" dirty="0"/>
                  <a:t>.</a:t>
                </a:r>
              </a:p>
              <a:p>
                <a:pPr>
                  <a:lnSpc>
                    <a:spcPct val="170000"/>
                  </a:lnSpc>
                </a:pPr>
                <a:r>
                  <a:rPr lang="en-CA" dirty="0"/>
                  <a:t>The output for x is computed by aggregating </a:t>
                </a:r>
                <a:r>
                  <a:rPr lang="en-CA" i="1" dirty="0"/>
                  <a:t>k</a:t>
                </a:r>
                <a:r>
                  <a:rPr lang="en-CA" dirty="0"/>
                  <a:t> responses: </a:t>
                </a:r>
                <a14:m>
                  <m:oMath xmlns:m="http://schemas.openxmlformats.org/officeDocument/2006/math"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CA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𝐴𝑣𝑒</m:t>
                        </m:r>
                      </m:e>
                      <m:sub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CA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CA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CA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</m:sSub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.</a:t>
                </a:r>
              </a:p>
              <a:p>
                <a:pPr>
                  <a:lnSpc>
                    <a:spcPct val="170000"/>
                  </a:lnSpc>
                </a:pPr>
                <a:r>
                  <a:rPr lang="en-CA" dirty="0"/>
                  <a:t>Using a validation set, we find out the right value of </a:t>
                </a:r>
                <a:r>
                  <a:rPr lang="en-CA" i="1" dirty="0"/>
                  <a:t>k</a:t>
                </a:r>
                <a:r>
                  <a:rPr lang="en-CA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C3C8AF-17C7-400C-974D-F5C5B7098F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2634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9B11D-7E35-492A-B7DD-C499E74E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K-</a:t>
            </a:r>
            <a:r>
              <a:rPr lang="en-CA" dirty="0" err="1"/>
              <a:t>nn</a:t>
            </a:r>
            <a:r>
              <a:rPr lang="en-CA" dirty="0"/>
              <a:t>: A toy example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2B8D59E-E6FA-46B2-B945-BEB2C7DD5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593659"/>
              </p:ext>
            </p:extLst>
          </p:nvPr>
        </p:nvGraphicFramePr>
        <p:xfrm>
          <a:off x="2990788" y="1914160"/>
          <a:ext cx="364971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570">
                  <a:extLst>
                    <a:ext uri="{9D8B030D-6E8A-4147-A177-3AD203B41FA5}">
                      <a16:colId xmlns:a16="http://schemas.microsoft.com/office/drawing/2014/main" val="148122922"/>
                    </a:ext>
                  </a:extLst>
                </a:gridCol>
                <a:gridCol w="1216570">
                  <a:extLst>
                    <a:ext uri="{9D8B030D-6E8A-4147-A177-3AD203B41FA5}">
                      <a16:colId xmlns:a16="http://schemas.microsoft.com/office/drawing/2014/main" val="3365410325"/>
                    </a:ext>
                  </a:extLst>
                </a:gridCol>
                <a:gridCol w="1216570">
                  <a:extLst>
                    <a:ext uri="{9D8B030D-6E8A-4147-A177-3AD203B41FA5}">
                      <a16:colId xmlns:a16="http://schemas.microsoft.com/office/drawing/2014/main" val="27692223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x</a:t>
                      </a:r>
                      <a:r>
                        <a:rPr lang="en-CA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x</a:t>
                      </a:r>
                      <a:r>
                        <a:rPr lang="en-CA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y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35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0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002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163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653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925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?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912202"/>
                  </a:ext>
                </a:extLst>
              </a:tr>
            </a:tbl>
          </a:graphicData>
        </a:graphic>
      </p:graphicFrame>
      <p:sp>
        <p:nvSpPr>
          <p:cNvPr id="5" name="Left Brace 4">
            <a:extLst>
              <a:ext uri="{FF2B5EF4-FFF2-40B4-BE49-F238E27FC236}">
                <a16:creationId xmlns:a16="http://schemas.microsoft.com/office/drawing/2014/main" id="{79306A15-3F68-4833-A535-F7891C4ED919}"/>
              </a:ext>
            </a:extLst>
          </p:cNvPr>
          <p:cNvSpPr/>
          <p:nvPr/>
        </p:nvSpPr>
        <p:spPr>
          <a:xfrm>
            <a:off x="2574525" y="2306577"/>
            <a:ext cx="275208" cy="181104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225FD1-282C-4584-9E0F-8E7281162B49}"/>
              </a:ext>
            </a:extLst>
          </p:cNvPr>
          <p:cNvSpPr txBox="1"/>
          <p:nvPr/>
        </p:nvSpPr>
        <p:spPr>
          <a:xfrm>
            <a:off x="391112" y="3027433"/>
            <a:ext cx="211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Training data, </a:t>
            </a:r>
            <a:r>
              <a:rPr lang="en-CA" i="1" dirty="0"/>
              <a:t>m</a:t>
            </a:r>
            <a:r>
              <a:rPr lang="en-CA" dirty="0"/>
              <a:t> = 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5629C8-6F95-400D-9CA5-3327E354AA9C}"/>
              </a:ext>
            </a:extLst>
          </p:cNvPr>
          <p:cNvSpPr txBox="1"/>
          <p:nvPr/>
        </p:nvSpPr>
        <p:spPr>
          <a:xfrm>
            <a:off x="870012" y="4140708"/>
            <a:ext cx="1704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Test data point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7F2099-DB22-49B6-8533-221B6322B127}"/>
              </a:ext>
            </a:extLst>
          </p:cNvPr>
          <p:cNvSpPr txBox="1"/>
          <p:nvPr/>
        </p:nvSpPr>
        <p:spPr>
          <a:xfrm>
            <a:off x="3206566" y="4785256"/>
            <a:ext cx="3373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For this problem, note that the</a:t>
            </a:r>
          </a:p>
          <a:p>
            <a:r>
              <a:rPr lang="en-CA" dirty="0"/>
              <a:t>feature vector dimension, </a:t>
            </a:r>
            <a:r>
              <a:rPr lang="en-CA" i="1" dirty="0"/>
              <a:t>d</a:t>
            </a:r>
            <a:r>
              <a:rPr lang="en-CA" dirty="0"/>
              <a:t>=2</a:t>
            </a:r>
          </a:p>
          <a:p>
            <a:endParaRPr lang="en-CA" dirty="0"/>
          </a:p>
          <a:p>
            <a:r>
              <a:rPr lang="en-CA" dirty="0"/>
              <a:t>Let’s assume </a:t>
            </a:r>
            <a:r>
              <a:rPr lang="en-CA" i="1" dirty="0"/>
              <a:t>k</a:t>
            </a:r>
            <a:r>
              <a:rPr lang="en-CA" dirty="0"/>
              <a:t>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5CB38D-3EAD-4BDC-A52A-5DDD4F5AE5C4}"/>
              </a:ext>
            </a:extLst>
          </p:cNvPr>
          <p:cNvSpPr txBox="1"/>
          <p:nvPr/>
        </p:nvSpPr>
        <p:spPr>
          <a:xfrm flipH="1">
            <a:off x="7589421" y="1807628"/>
            <a:ext cx="434068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To find out </a:t>
            </a:r>
            <a:r>
              <a:rPr lang="en-CA" i="1" dirty="0"/>
              <a:t>k</a:t>
            </a:r>
            <a:r>
              <a:rPr lang="en-CA" dirty="0"/>
              <a:t>=3 nearest neighbors, compute distances:</a:t>
            </a:r>
          </a:p>
          <a:p>
            <a:r>
              <a:rPr lang="en-CA" dirty="0"/>
              <a:t>D</a:t>
            </a:r>
            <a:r>
              <a:rPr lang="en-CA" baseline="-25000" dirty="0"/>
              <a:t>1</a:t>
            </a:r>
            <a:r>
              <a:rPr lang="en-CA" dirty="0"/>
              <a:t>([1, 1], [2, -1]) = |1-2|+|1+1| = 3</a:t>
            </a:r>
          </a:p>
          <a:p>
            <a:r>
              <a:rPr lang="en-CA" dirty="0"/>
              <a:t>D</a:t>
            </a:r>
            <a:r>
              <a:rPr lang="en-CA" baseline="-25000" dirty="0"/>
              <a:t>2</a:t>
            </a:r>
            <a:r>
              <a:rPr lang="en-CA" dirty="0"/>
              <a:t>([1, 1], [3, 2]) = |1-3|+|1-2| = 3</a:t>
            </a:r>
          </a:p>
          <a:p>
            <a:r>
              <a:rPr lang="en-CA" dirty="0"/>
              <a:t>D</a:t>
            </a:r>
            <a:r>
              <a:rPr lang="en-CA" baseline="-25000" dirty="0"/>
              <a:t>3</a:t>
            </a:r>
            <a:r>
              <a:rPr lang="en-CA" dirty="0"/>
              <a:t>([1, 1], [0, 4]) = |1-0|+|1-4| = 4</a:t>
            </a:r>
          </a:p>
          <a:p>
            <a:r>
              <a:rPr lang="en-CA" dirty="0"/>
              <a:t>D</a:t>
            </a:r>
            <a:r>
              <a:rPr lang="en-CA" baseline="-25000" dirty="0"/>
              <a:t>4</a:t>
            </a:r>
            <a:r>
              <a:rPr lang="en-CA" dirty="0"/>
              <a:t>([1, 1], [-2, 5]) = |1+2|+|1-5| = 7</a:t>
            </a:r>
          </a:p>
          <a:p>
            <a:r>
              <a:rPr lang="en-CA" dirty="0"/>
              <a:t>D</a:t>
            </a:r>
            <a:r>
              <a:rPr lang="en-CA" baseline="-25000" dirty="0"/>
              <a:t>5</a:t>
            </a:r>
            <a:r>
              <a:rPr lang="en-CA" dirty="0"/>
              <a:t>([1, 1], [2, 0]) = |1-2|+|1-0| = 2</a:t>
            </a:r>
          </a:p>
          <a:p>
            <a:endParaRPr lang="en-CA" dirty="0"/>
          </a:p>
          <a:p>
            <a:r>
              <a:rPr lang="en-CA" dirty="0"/>
              <a:t>So, </a:t>
            </a:r>
            <a:r>
              <a:rPr lang="en-CA" i="1" dirty="0"/>
              <a:t>k</a:t>
            </a:r>
            <a:r>
              <a:rPr lang="en-CA" dirty="0"/>
              <a:t>=3 nearest neighbors are </a:t>
            </a:r>
          </a:p>
          <a:p>
            <a:r>
              <a:rPr lang="en-CA" i="1" dirty="0"/>
              <a:t>N</a:t>
            </a:r>
            <a:r>
              <a:rPr lang="en-CA" baseline="-25000" dirty="0"/>
              <a:t>3</a:t>
            </a:r>
            <a:r>
              <a:rPr lang="en-CA" dirty="0"/>
              <a:t>([1,1]) = {1, 2, 5}</a:t>
            </a:r>
          </a:p>
          <a:p>
            <a:endParaRPr lang="en-CA" dirty="0"/>
          </a:p>
          <a:p>
            <a:r>
              <a:rPr lang="en-CA" dirty="0"/>
              <a:t>Prediction for test data point:</a:t>
            </a:r>
          </a:p>
          <a:p>
            <a:r>
              <a:rPr lang="en-CA" i="1" dirty="0"/>
              <a:t>f</a:t>
            </a:r>
            <a:r>
              <a:rPr lang="en-CA" dirty="0"/>
              <a:t>([1, 1]) = </a:t>
            </a:r>
            <a:r>
              <a:rPr lang="en-CA" i="1" dirty="0"/>
              <a:t>Ave</a:t>
            </a:r>
            <a:r>
              <a:rPr lang="en-CA" dirty="0"/>
              <a:t>([y(1), y(2), y(5)])</a:t>
            </a:r>
          </a:p>
          <a:p>
            <a:r>
              <a:rPr lang="en-CA" dirty="0"/>
              <a:t>= </a:t>
            </a:r>
            <a:r>
              <a:rPr lang="en-CA" i="1" dirty="0"/>
              <a:t>Ave</a:t>
            </a:r>
            <a:r>
              <a:rPr lang="en-CA" dirty="0"/>
              <a:t>([0, 1, 1]) = 1</a:t>
            </a:r>
          </a:p>
          <a:p>
            <a:endParaRPr lang="en-CA" dirty="0"/>
          </a:p>
          <a:p>
            <a:r>
              <a:rPr lang="en-CA" dirty="0"/>
              <a:t>Here, we computed “Ave” by taking mode.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96167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1BEA9-1D06-455D-AE24-A022C21E0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to find the right value of </a:t>
            </a:r>
            <a:r>
              <a:rPr lang="en-CA" i="1" dirty="0"/>
              <a:t>k</a:t>
            </a:r>
            <a:r>
              <a:rPr lang="en-CA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E0A08-4E8C-49A1-8E2A-DCE4E3566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Divide training data into two sets: training (90%) and validation (10%).</a:t>
            </a:r>
          </a:p>
          <a:p>
            <a:endParaRPr lang="en-CA" dirty="0"/>
          </a:p>
          <a:p>
            <a:r>
              <a:rPr lang="en-CA" dirty="0"/>
              <a:t>For each </a:t>
            </a:r>
            <a:r>
              <a:rPr lang="en-CA" i="1" dirty="0"/>
              <a:t>k</a:t>
            </a:r>
            <a:r>
              <a:rPr lang="en-CA" dirty="0"/>
              <a:t> in a range, find out k-</a:t>
            </a:r>
            <a:r>
              <a:rPr lang="en-CA" dirty="0" err="1"/>
              <a:t>nn</a:t>
            </a:r>
            <a:r>
              <a:rPr lang="en-CA" dirty="0"/>
              <a:t> prediction accuracy on the validation set.</a:t>
            </a:r>
          </a:p>
          <a:p>
            <a:endParaRPr lang="en-CA" dirty="0"/>
          </a:p>
          <a:p>
            <a:r>
              <a:rPr lang="en-CA" dirty="0"/>
              <a:t>Choose the </a:t>
            </a:r>
            <a:r>
              <a:rPr lang="en-CA" i="1" dirty="0"/>
              <a:t>k</a:t>
            </a:r>
            <a:r>
              <a:rPr lang="en-CA" dirty="0"/>
              <a:t> that has yielded the highest accuracy on the validation set.</a:t>
            </a:r>
          </a:p>
        </p:txBody>
      </p:sp>
    </p:spTree>
    <p:extLst>
      <p:ext uri="{BB962C8B-B14F-4D97-AF65-F5344CB8AC3E}">
        <p14:creationId xmlns:p14="http://schemas.microsoft.com/office/powerpoint/2010/main" val="1764522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CA" dirty="0"/>
              <a:t>MNIST digit image classification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684" y="1565085"/>
            <a:ext cx="4245132" cy="10612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09682" y="2626367"/>
            <a:ext cx="57564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Small 28 pixels-by-28 pixels images of hand written digits</a:t>
            </a:r>
          </a:p>
          <a:p>
            <a:endParaRPr lang="en-CA" dirty="0"/>
          </a:p>
          <a:p>
            <a:r>
              <a:rPr lang="en-CA" dirty="0"/>
              <a:t>The visual recognition problem definition:</a:t>
            </a:r>
          </a:p>
          <a:p>
            <a:r>
              <a:rPr lang="en-CA" dirty="0">
                <a:solidFill>
                  <a:srgbClr val="FF0000"/>
                </a:solidFill>
              </a:rPr>
              <a:t>to recognize the digit from an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9682" y="4298005"/>
            <a:ext cx="4041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We can attempt to solve this using k-</a:t>
            </a:r>
            <a:r>
              <a:rPr lang="en-CA" dirty="0" err="1"/>
              <a:t>nn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Feature dimension, </a:t>
            </a:r>
            <a:r>
              <a:rPr lang="en-CA" i="1" dirty="0"/>
              <a:t>d</a:t>
            </a:r>
            <a:r>
              <a:rPr lang="en-CA" dirty="0"/>
              <a:t> = 28 * 28 = 784</a:t>
            </a:r>
          </a:p>
        </p:txBody>
      </p:sp>
      <p:graphicFrame>
        <p:nvGraphicFramePr>
          <p:cNvPr id="8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2221147"/>
              </p:ext>
            </p:extLst>
          </p:nvPr>
        </p:nvGraphicFramePr>
        <p:xfrm>
          <a:off x="6955668" y="3091479"/>
          <a:ext cx="396445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1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76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i="1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…</a:t>
                      </a:r>
                      <a:endParaRPr lang="en-US" i="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x</a:t>
                      </a:r>
                      <a:r>
                        <a:rPr lang="en-US" i="0" baseline="-25000" dirty="0"/>
                        <a:t>784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ight Brace 8"/>
          <p:cNvSpPr/>
          <p:nvPr/>
        </p:nvSpPr>
        <p:spPr>
          <a:xfrm rot="16200000">
            <a:off x="8205046" y="1140873"/>
            <a:ext cx="450891" cy="294964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/>
          <p:cNvSpPr txBox="1"/>
          <p:nvPr/>
        </p:nvSpPr>
        <p:spPr>
          <a:xfrm>
            <a:off x="7527881" y="2020919"/>
            <a:ext cx="2135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Pixel values (feature)</a:t>
            </a:r>
          </a:p>
        </p:txBody>
      </p:sp>
      <p:sp>
        <p:nvSpPr>
          <p:cNvPr id="11" name="Right Brace 10"/>
          <p:cNvSpPr/>
          <p:nvPr/>
        </p:nvSpPr>
        <p:spPr>
          <a:xfrm rot="16200000">
            <a:off x="10187028" y="2108041"/>
            <a:ext cx="450891" cy="101530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/>
          <p:cNvSpPr txBox="1"/>
          <p:nvPr/>
        </p:nvSpPr>
        <p:spPr>
          <a:xfrm>
            <a:off x="10102933" y="2019496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Digit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EE563E24-27ED-458B-AA9D-7C403E3C125F}"/>
              </a:ext>
            </a:extLst>
          </p:cNvPr>
          <p:cNvSpPr/>
          <p:nvPr/>
        </p:nvSpPr>
        <p:spPr>
          <a:xfrm>
            <a:off x="6618309" y="3506680"/>
            <a:ext cx="322392" cy="179329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221F60-6327-481F-9747-2F8A076B37E7}"/>
              </a:ext>
            </a:extLst>
          </p:cNvPr>
          <p:cNvSpPr txBox="1"/>
          <p:nvPr/>
        </p:nvSpPr>
        <p:spPr>
          <a:xfrm>
            <a:off x="5266267" y="4210952"/>
            <a:ext cx="152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Training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F66680-0E81-4B15-BD38-0FCF94C5969B}"/>
              </a:ext>
            </a:extLst>
          </p:cNvPr>
          <p:cNvSpPr txBox="1"/>
          <p:nvPr/>
        </p:nvSpPr>
        <p:spPr>
          <a:xfrm>
            <a:off x="5505717" y="5530802"/>
            <a:ext cx="1045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Test data 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56C7A95A-7885-485D-930C-622087C893F4}"/>
              </a:ext>
            </a:extLst>
          </p:cNvPr>
          <p:cNvSpPr/>
          <p:nvPr/>
        </p:nvSpPr>
        <p:spPr>
          <a:xfrm>
            <a:off x="6618309" y="5336353"/>
            <a:ext cx="322392" cy="75823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F37D5D-0138-4DAB-9F49-4748439AB246}"/>
              </a:ext>
            </a:extLst>
          </p:cNvPr>
          <p:cNvSpPr txBox="1"/>
          <p:nvPr/>
        </p:nvSpPr>
        <p:spPr>
          <a:xfrm flipH="1">
            <a:off x="723213" y="5912640"/>
            <a:ext cx="4041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 recommended resource: https://cs231n.github.io/classification/</a:t>
            </a:r>
          </a:p>
        </p:txBody>
      </p:sp>
    </p:spTree>
    <p:extLst>
      <p:ext uri="{BB962C8B-B14F-4D97-AF65-F5344CB8AC3E}">
        <p14:creationId xmlns:p14="http://schemas.microsoft.com/office/powerpoint/2010/main" val="2965465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</TotalTime>
  <Words>646</Words>
  <Application>Microsoft Office PowerPoint</Application>
  <PresentationFormat>Widescreen</PresentationFormat>
  <Paragraphs>165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K Nearest Neighbor</vt:lpstr>
      <vt:lpstr>Supervised machine learning: the tabular view</vt:lpstr>
      <vt:lpstr>K nearest neighbor (K-nn)</vt:lpstr>
      <vt:lpstr>K-nn: A toy example</vt:lpstr>
      <vt:lpstr>How to find the right value of k?</vt:lpstr>
      <vt:lpstr>MNIST digit image classification</vt:lpstr>
    </vt:vector>
  </TitlesOfParts>
  <Company>University of Alberta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Windows User</dc:creator>
  <cp:lastModifiedBy>Nilanjan Ray</cp:lastModifiedBy>
  <cp:revision>101</cp:revision>
  <dcterms:created xsi:type="dcterms:W3CDTF">2017-09-07T15:40:48Z</dcterms:created>
  <dcterms:modified xsi:type="dcterms:W3CDTF">2020-09-07T15:47:28Z</dcterms:modified>
</cp:coreProperties>
</file>